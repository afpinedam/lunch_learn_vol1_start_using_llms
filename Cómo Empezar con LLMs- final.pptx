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Medium" panose="020B0604020202020204" charset="0"/>
      <p:regular r:id="rId19"/>
      <p:bold r:id="rId20"/>
      <p:italic r:id="rId21"/>
      <p:boldItalic r:id="rId22"/>
    </p:embeddedFont>
    <p:embeddedFont>
      <p:font typeface="Space Grotesk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5197A6-DC82-4A31-8AEB-3C2FE3B6C0C1}">
  <a:tblStyle styleId="{465197A6-DC82-4A31-8AEB-3C2FE3B6C0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es un </a:t>
            </a:r>
            <a:r>
              <a:rPr lang="en-US" sz="1200">
                <a:solidFill>
                  <a:schemeClr val="dk1"/>
                </a:solidFill>
              </a:rPr>
              <a:t>algoritmo de inteligencia artificial de aprendizaje profundo</a:t>
            </a:r>
            <a:r>
              <a:rPr lang="en-US">
                <a:solidFill>
                  <a:schemeClr val="dk1"/>
                </a:solidFill>
              </a:rPr>
              <a:t>. Utiliza una arquitectura de red neuronal llamada </a:t>
            </a:r>
            <a:r>
              <a:rPr lang="en-US" sz="1200" i="1">
                <a:solidFill>
                  <a:schemeClr val="dk1"/>
                </a:solidFill>
              </a:rPr>
              <a:t>Transformer</a:t>
            </a:r>
            <a:r>
              <a:rPr lang="en-US">
                <a:solidFill>
                  <a:schemeClr val="dk1"/>
                </a:solidFill>
              </a:rPr>
              <a:t>. Su componente clave es el mecanismo de </a:t>
            </a:r>
            <a:r>
              <a:rPr lang="en-US" sz="1200" b="1">
                <a:solidFill>
                  <a:schemeClr val="dk1"/>
                </a:solidFill>
              </a:rPr>
              <a:t>autoatención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10f4be5a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10f4be5a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10f4be5a3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e10f4be5a3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10f4be5a3_2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e10f4be5a3_2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2050733"/>
            <a:ext cx="11581500" cy="13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PRIMEROS PASOS, PRIMERAS ALUCINACIONES CON LLMs</a:t>
            </a:r>
            <a:endParaRPr sz="4600"/>
          </a:p>
        </p:txBody>
      </p:sp>
      <p:sp>
        <p:nvSpPr>
          <p:cNvPr id="86" name="Google Shape;86;p13"/>
          <p:cNvSpPr txBox="1"/>
          <p:nvPr/>
        </p:nvSpPr>
        <p:spPr>
          <a:xfrm>
            <a:off x="580950" y="3572350"/>
            <a:ext cx="1103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B7B7B7"/>
                </a:solidFill>
                <a:latin typeface="Inter"/>
                <a:ea typeface="Inter"/>
                <a:cs typeface="Inter"/>
                <a:sym typeface="Inter"/>
              </a:rPr>
              <a:t>¿Cómo empezar a usar LLMs desde cero?</a:t>
            </a:r>
            <a:endParaRPr sz="16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97325"/>
            <a:ext cx="5324474" cy="339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97325"/>
            <a:ext cx="5324474" cy="339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045512"/>
            <a:ext cx="47907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PROBABILIDAD Y PREDICCIÓN</a:t>
            </a:r>
            <a:endParaRPr sz="1800"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2569274"/>
            <a:ext cx="45624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Un LLM no "entiende" conceptos; </a:t>
            </a:r>
            <a:r>
              <a:rPr lang="en-US" sz="19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predice la siguiente palabra</a:t>
            </a:r>
            <a:r>
              <a:rPr lang="en-US" sz="19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(token) basándose en probabilidades derivadas de su entrenamiento masivo con grandes cantidades</a:t>
            </a:r>
            <a:r>
              <a:rPr lang="en-US" sz="19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de datos</a:t>
            </a:r>
            <a:r>
              <a:rPr lang="en-US" sz="19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/>
          </a:p>
        </p:txBody>
      </p:sp>
      <p:sp>
        <p:nvSpPr>
          <p:cNvPr id="96" name="Google Shape;96;p14"/>
          <p:cNvSpPr txBox="1"/>
          <p:nvPr/>
        </p:nvSpPr>
        <p:spPr>
          <a:xfrm>
            <a:off x="6667500" y="2033737"/>
            <a:ext cx="47907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AUTOATENCIÓN Y CONTEXTO</a:t>
            </a:r>
            <a:endParaRPr sz="1800"/>
          </a:p>
        </p:txBody>
      </p:sp>
      <p:sp>
        <p:nvSpPr>
          <p:cNvPr id="97" name="Google Shape;97;p14"/>
          <p:cNvSpPr txBox="1"/>
          <p:nvPr/>
        </p:nvSpPr>
        <p:spPr>
          <a:xfrm>
            <a:off x="6667500" y="2618691"/>
            <a:ext cx="45624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Utiliza arquitecturas </a:t>
            </a:r>
            <a:r>
              <a:rPr lang="en-US" sz="19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Transformer</a:t>
            </a:r>
            <a:r>
              <a:rPr lang="en-US" sz="19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para procesar secuencias. Los mecanismos de autoatención permiten que el modelo "recuerde" tokens previos para generar texto coherente.</a:t>
            </a:r>
            <a:endParaRPr sz="1800"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¿QUÉ ES REALMENTE UN LLM?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64787"/>
            <a:ext cx="34861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764787"/>
            <a:ext cx="34861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764787"/>
            <a:ext cx="3486150" cy="24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0505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2622037"/>
            <a:ext cx="30603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PATRONES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771525" y="3088750"/>
            <a:ext cx="31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Aprende patrones complejos del lenguaje humano, no conocimiento </a:t>
            </a:r>
            <a:r>
              <a:rPr lang="en-US" sz="15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en sí</a:t>
            </a: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8675" y="20505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638675" y="2622037"/>
            <a:ext cx="30603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ESCALA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471950" y="2962750"/>
            <a:ext cx="33333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Entrenado</a:t>
            </a:r>
            <a:r>
              <a:rPr lang="en-US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 con</a:t>
            </a:r>
            <a:r>
              <a:rPr lang="en-US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volúmenes de datos </a:t>
            </a:r>
            <a:r>
              <a:rPr lang="en-US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enormes, estos algoritmos utilizan billones de parámetros que controlan su comportamiento</a:t>
            </a:r>
            <a:endParaRPr sz="1300"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0575" y="20505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410575" y="2622037"/>
            <a:ext cx="30603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GENERALIZACIÓN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232900" y="3088750"/>
            <a:ext cx="3333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Capacidad de adaptarse a tareas para las que no fue específicamente entrenado.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LOS PILARES DE SU FUNCIONAMIENTO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98988" y="4679250"/>
            <a:ext cx="5139675" cy="164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036202" y="4885301"/>
            <a:ext cx="4196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Y SOBRE TODO…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095500" y="5562150"/>
            <a:ext cx="4336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Fácil de utilizar para el usuario final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625" y="1538274"/>
            <a:ext cx="5324474" cy="200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7550" y="1538287"/>
            <a:ext cx="5324474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12625" y="1919287"/>
            <a:ext cx="479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PERSPECTIVA USUARIO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12625" y="2386012"/>
            <a:ext cx="4562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Enfoque en </a:t>
            </a:r>
            <a:r>
              <a:rPr lang="en-US" sz="16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Prompt y Output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 Interacción simple a través de lenguaje natural para tareas inmediatas.</a:t>
            </a:r>
            <a:endParaRPr sz="1500"/>
          </a:p>
        </p:txBody>
      </p:sp>
      <p:sp>
        <p:nvSpPr>
          <p:cNvPr id="131" name="Google Shape;131;p16"/>
          <p:cNvSpPr txBox="1"/>
          <p:nvPr/>
        </p:nvSpPr>
        <p:spPr>
          <a:xfrm>
            <a:off x="6578550" y="1919287"/>
            <a:ext cx="479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PERSPECTIVA DESARROLLADOR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578550" y="2386012"/>
            <a:ext cx="4562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Control total del </a:t>
            </a:r>
            <a:r>
              <a:rPr lang="en-US" sz="15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r>
              <a:rPr lang="en-US" sz="15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 Gestión de mensajes estructurados, system prompts e integración vía API con sistemas externos.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PERSPECTIVAS DE INTERACCIÓN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6050" y="3867675"/>
            <a:ext cx="3155348" cy="177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4513" y="4373700"/>
            <a:ext cx="5498776" cy="1095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81025" y="1591013"/>
            <a:ext cx="53244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El token no siempre es igual a una palabra. Es la unidad mínima de procesamiento que impacta directamente en:</a:t>
            </a:r>
            <a:endParaRPr sz="1600"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3138125"/>
            <a:ext cx="4943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Coste:</a:t>
            </a: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Se factura por volumen de tokens procesados.</a:t>
            </a:r>
            <a:endParaRPr sz="1600"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3940750"/>
            <a:ext cx="4943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Límites:</a:t>
            </a: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Cada modelo tiene una ventana de contexto finita.</a:t>
            </a:r>
            <a:endParaRPr sz="1600"/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4702750"/>
            <a:ext cx="4943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Latencia:</a:t>
            </a: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 mayor número de tokens, mayor tiempo de respuesta.</a:t>
            </a:r>
            <a:endParaRPr sz="160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905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931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551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TOKENS: LA UNIDAD FUNDAMENTAL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1125" y="2685225"/>
            <a:ext cx="5239449" cy="225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5715000" y="2633662"/>
            <a:ext cx="762000" cy="381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305276" y="2957512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 ERA DEL CONTEXTO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81025" y="3881437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CFF00"/>
                </a:solidFill>
                <a:latin typeface="Inter Medium"/>
                <a:ea typeface="Inter Medium"/>
                <a:cs typeface="Inter Medium"/>
                <a:sym typeface="Inter Medium"/>
              </a:rPr>
              <a:t>Arquitectura RAG: Retrieval-Augmented Generation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771525" y="641075"/>
            <a:ext cx="4990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FLUJO DE TRABAJO RAG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81025" y="641075"/>
            <a:ext cx="57300" cy="457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581025" y="1534800"/>
            <a:ext cx="10814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Un LLM es tan bueno como el contexto que recibe. RAG permite inyectar datos </a:t>
            </a:r>
            <a:r>
              <a:rPr lang="en-US" sz="17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útiles y relevantes que permiten mejorar el rendimiento </a:t>
            </a: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sin reentrenamiento:</a:t>
            </a:r>
            <a:endParaRPr sz="1600"/>
          </a:p>
        </p:txBody>
      </p:sp>
      <p:sp>
        <p:nvSpPr>
          <p:cNvPr id="168" name="Google Shape;168;p19"/>
          <p:cNvSpPr txBox="1"/>
          <p:nvPr/>
        </p:nvSpPr>
        <p:spPr>
          <a:xfrm>
            <a:off x="962025" y="3063375"/>
            <a:ext cx="4562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Recuperar:</a:t>
            </a: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Extraer datos relevantes de fuentes externas.</a:t>
            </a:r>
            <a:endParaRPr sz="1600"/>
          </a:p>
        </p:txBody>
      </p:sp>
      <p:sp>
        <p:nvSpPr>
          <p:cNvPr id="169" name="Google Shape;169;p19"/>
          <p:cNvSpPr txBox="1"/>
          <p:nvPr/>
        </p:nvSpPr>
        <p:spPr>
          <a:xfrm>
            <a:off x="962025" y="3825375"/>
            <a:ext cx="4562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Inyectar:</a:t>
            </a: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Añadir esa información al prompt dinámicamente.</a:t>
            </a:r>
            <a:endParaRPr sz="1600"/>
          </a:p>
        </p:txBody>
      </p:sp>
      <p:sp>
        <p:nvSpPr>
          <p:cNvPr id="170" name="Google Shape;170;p19"/>
          <p:cNvSpPr txBox="1"/>
          <p:nvPr/>
        </p:nvSpPr>
        <p:spPr>
          <a:xfrm>
            <a:off x="962025" y="4587375"/>
            <a:ext cx="4562400" cy="6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Generar:</a:t>
            </a: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El LLM produce una respuesta </a:t>
            </a:r>
            <a:r>
              <a:rPr lang="en-US" sz="17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más informada</a:t>
            </a:r>
            <a:r>
              <a:rPr lang="en-US" sz="17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157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877762"/>
            <a:ext cx="1619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6397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0250" y="2509515"/>
            <a:ext cx="5564150" cy="3108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71737"/>
            <a:ext cx="34861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471737"/>
            <a:ext cx="34861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471737"/>
            <a:ext cx="34861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66775" y="3328987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EMBEDDINGS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796763" y="3980350"/>
            <a:ext cx="32004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Conversión de texto a vectores numéricos que representan el significado semántico.</a:t>
            </a:r>
            <a:endParaRPr sz="1500"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8675" y="27574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4638675" y="3328987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BÚSQUEDA VECTORIAL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411500" y="4032850"/>
            <a:ext cx="3369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Identificación de información similar en un espacio multidimensional de alta densidad.</a:t>
            </a:r>
            <a:endParaRPr sz="1500"/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0575" y="275748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8410575" y="3328987"/>
            <a:ext cx="30603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SIMILITUD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124975" y="3795700"/>
            <a:ext cx="34170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El sistema encuentra los fragmentos más relevantes basándose en el concepto, no solo palabras clave.</a:t>
            </a:r>
            <a:endParaRPr sz="1500"/>
          </a:p>
        </p:txBody>
      </p:sp>
      <p:sp>
        <p:nvSpPr>
          <p:cNvPr id="192" name="Google Shape;192;p20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MECÁNICA DE RECUPERACIÓN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962025" y="2514600"/>
            <a:ext cx="5038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Especificidad: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S</a:t>
            </a:r>
            <a:r>
              <a:rPr lang="en-US" sz="16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muy 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detallado en los prompts para reducir ambigüedad.</a:t>
            </a:r>
            <a:endParaRPr sz="1500"/>
          </a:p>
        </p:txBody>
      </p:sp>
      <p:sp>
        <p:nvSpPr>
          <p:cNvPr id="200" name="Google Shape;200;p21"/>
          <p:cNvSpPr txBox="1"/>
          <p:nvPr/>
        </p:nvSpPr>
        <p:spPr>
          <a:xfrm>
            <a:off x="6572250" y="2514600"/>
            <a:ext cx="5325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Optimización: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Controlar el tamaño de la ventana de contexto para gestionar latencia.</a:t>
            </a:r>
            <a:endParaRPr sz="1500"/>
          </a:p>
        </p:txBody>
      </p:sp>
      <p:sp>
        <p:nvSpPr>
          <p:cNvPr id="201" name="Google Shape;201;p21"/>
          <p:cNvSpPr txBox="1"/>
          <p:nvPr/>
        </p:nvSpPr>
        <p:spPr>
          <a:xfrm>
            <a:off x="962025" y="3467100"/>
            <a:ext cx="5038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Validación: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Usar validadores de formato y structured outputs (JSON) para integraciones.</a:t>
            </a:r>
            <a:endParaRPr sz="1500"/>
          </a:p>
        </p:txBody>
      </p:sp>
      <p:sp>
        <p:nvSpPr>
          <p:cNvPr id="202" name="Google Shape;202;p21"/>
          <p:cNvSpPr txBox="1"/>
          <p:nvPr/>
        </p:nvSpPr>
        <p:spPr>
          <a:xfrm>
            <a:off x="6572250" y="3467100"/>
            <a:ext cx="5325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Gestión de Errores: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Defin</a:t>
            </a:r>
            <a:r>
              <a:rPr lang="en-US" sz="16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ir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comportamientos fallback cuando el modelo no tiene datos suficientes.</a:t>
            </a:r>
            <a:endParaRPr sz="1500"/>
          </a:p>
        </p:txBody>
      </p:sp>
      <p:sp>
        <p:nvSpPr>
          <p:cNvPr id="203" name="Google Shape;203;p21"/>
          <p:cNvSpPr txBox="1"/>
          <p:nvPr/>
        </p:nvSpPr>
        <p:spPr>
          <a:xfrm>
            <a:off x="962025" y="4419600"/>
            <a:ext cx="5038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Iteración: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Eval</a:t>
            </a:r>
            <a:r>
              <a:rPr lang="en-US" sz="1600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uar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constantemente la calidad del output frente a modelos base.</a:t>
            </a:r>
            <a:endParaRPr sz="1500"/>
          </a:p>
        </p:txBody>
      </p:sp>
      <p:sp>
        <p:nvSpPr>
          <p:cNvPr id="204" name="Google Shape;204;p21"/>
          <p:cNvSpPr txBox="1"/>
          <p:nvPr/>
        </p:nvSpPr>
        <p:spPr>
          <a:xfrm>
            <a:off x="6572250" y="4419600"/>
            <a:ext cx="5325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CCFF00"/>
                </a:solidFill>
                <a:latin typeface="Inter"/>
                <a:ea typeface="Inter"/>
                <a:cs typeface="Inter"/>
                <a:sym typeface="Inter"/>
              </a:rPr>
              <a:t>Seguridad:</a:t>
            </a:r>
            <a:r>
              <a:rPr lang="en-US" sz="1600" b="0" i="0" u="none" strike="noStrike" cap="non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 Limitar el acceso a datos sensibles mediante capas de filtrado.</a:t>
            </a:r>
            <a:endParaRPr sz="1500"/>
          </a:p>
        </p:txBody>
      </p:sp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669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25669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194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5194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4719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447198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ESTRATEGIA Y MEJORES PRÁCTICAS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66482"/>
            <a:ext cx="3771900" cy="3950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66475"/>
            <a:ext cx="3486150" cy="39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9075" y="1966482"/>
            <a:ext cx="3771900" cy="395091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581025" y="581025"/>
            <a:ext cx="762000" cy="573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71525" y="876300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LIMITACIONES DE LOS LLM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81025" y="876300"/>
            <a:ext cx="47700" cy="5049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2575" y="2125105"/>
            <a:ext cx="34671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914325" y="4464843"/>
            <a:ext cx="314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Alucinaciones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28675" y="4855375"/>
            <a:ext cx="33117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0" i="0" u="none" strike="noStrike" cap="none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Generan respuestas incorrectas o ficticias con total confianza estadística.</a:t>
            </a:r>
            <a:endParaRPr sz="1600"/>
          </a:p>
        </p:txBody>
      </p:sp>
      <p:sp>
        <p:nvSpPr>
          <p:cNvPr id="227" name="Google Shape;227;p22"/>
          <p:cNvSpPr txBox="1"/>
          <p:nvPr/>
        </p:nvSpPr>
        <p:spPr>
          <a:xfrm>
            <a:off x="4525800" y="4464843"/>
            <a:ext cx="314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Falta de Datos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497150" y="4855375"/>
            <a:ext cx="3486300" cy="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25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No conocen tus datos ni contexto interno</a:t>
            </a:r>
            <a:endParaRPr sz="1625">
              <a:solidFill>
                <a:srgbClr val="BBBBB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8222925" y="4464843"/>
            <a:ext cx="3140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CFF00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Sensibilidad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7983450" y="4855375"/>
            <a:ext cx="36276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5" b="0" i="0" u="none" strike="noStrike" cap="none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No tienen memoria real; el resultado depende críticamente del prompt dado.</a:t>
            </a:r>
            <a:endParaRPr sz="1600"/>
          </a:p>
        </p:txBody>
      </p:sp>
      <p:pic>
        <p:nvPicPr>
          <p:cNvPr id="231" name="Google Shape;231;p22"/>
          <p:cNvPicPr preferRelativeResize="0"/>
          <p:nvPr/>
        </p:nvPicPr>
        <p:blipFill rotWithShape="1">
          <a:blip r:embed="rId8">
            <a:alphaModFix/>
          </a:blip>
          <a:srcRect l="-2300" t="19239" r="2300" b="22513"/>
          <a:stretch/>
        </p:blipFill>
        <p:spPr>
          <a:xfrm>
            <a:off x="6613775" y="2125100"/>
            <a:ext cx="3597504" cy="209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86025"/>
            <a:ext cx="11029950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581025" y="581025"/>
            <a:ext cx="762000" cy="573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771525" y="876300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¿CUÁNDO USAR VS NO USAR LLMS?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81025" y="876300"/>
            <a:ext cx="47700" cy="5049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90550" y="2495550"/>
            <a:ext cx="11010900" cy="3048000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2" name="Google Shape;242;p23"/>
          <p:cNvGraphicFramePr/>
          <p:nvPr/>
        </p:nvGraphicFramePr>
        <p:xfrm>
          <a:off x="590550" y="24955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{465197A6-DC82-4A31-8AEB-3C2FE3B6C0C1}</a:tableStyleId>
              </a:tblPr>
              <a:tblGrid>
                <a:gridCol w="216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CFF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Dimensión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CFF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Uso Recomendado (LLM)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CFF0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Evitar LLM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Texto no estructurado (Correos)</a:t>
                      </a:r>
                      <a:endParaRPr/>
                    </a:p>
                  </a:txBody>
                  <a:tcPr marL="36195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Cálculo exacto / Tablas</a:t>
                      </a:r>
                      <a:endParaRPr/>
                    </a:p>
                  </a:txBody>
                  <a:tcPr marL="333375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Ambigüedad y Resúmenes</a:t>
                      </a:r>
                      <a:endParaRPr/>
                    </a:p>
                  </a:txBody>
                  <a:tcPr marL="36195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Reglas deterministas</a:t>
                      </a:r>
                      <a:endParaRPr/>
                    </a:p>
                  </a:txBody>
                  <a:tcPr marL="333375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Generación de ideas / Código</a:t>
                      </a:r>
                      <a:endParaRPr/>
                    </a:p>
                  </a:txBody>
                  <a:tcPr marL="36195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crítica de negocio</a:t>
                      </a:r>
                      <a:endParaRPr/>
                    </a:p>
                  </a:txBody>
                  <a:tcPr marL="333375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Factor Crítico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Interacción en Lenguaje Natural</a:t>
                      </a:r>
                      <a:endParaRPr/>
                    </a:p>
                  </a:txBody>
                  <a:tcPr marL="361950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Sistemas sensibles a fallos</a:t>
                      </a:r>
                      <a:endParaRPr/>
                    </a:p>
                  </a:txBody>
                  <a:tcPr marL="333375" marR="63500" marT="25400" marB="25400" anchor="ctr">
                    <a:lnL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3" name="Google Shape;243;p23"/>
          <p:cNvSpPr/>
          <p:nvPr/>
        </p:nvSpPr>
        <p:spPr>
          <a:xfrm>
            <a:off x="590550" y="3152775"/>
            <a:ext cx="2163600" cy="19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754064" y="3152775"/>
            <a:ext cx="4781700" cy="19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535912" y="3152775"/>
            <a:ext cx="4065600" cy="192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2754064" y="3757612"/>
            <a:ext cx="47817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7535912" y="3757612"/>
            <a:ext cx="40656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590550" y="4348162"/>
            <a:ext cx="21636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2754064" y="4348162"/>
            <a:ext cx="47817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7535912" y="4348162"/>
            <a:ext cx="40656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90550" y="4938712"/>
            <a:ext cx="21636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2754064" y="4938712"/>
            <a:ext cx="47817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7535912" y="4938712"/>
            <a:ext cx="40656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90550" y="5529262"/>
            <a:ext cx="21636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2754064" y="5529262"/>
            <a:ext cx="47817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7535912" y="5529262"/>
            <a:ext cx="4065600" cy="9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26412" y="3981450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4564" y="33594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44564" y="51625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44564" y="45720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26412" y="3343275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44564" y="39814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26412" y="5162550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26412" y="4572000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44564" y="39814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26412" y="3981450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26412" y="4572000"/>
            <a:ext cx="123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44564" y="516255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26412" y="5162550"/>
            <a:ext cx="1238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6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/>
          <p:nvPr/>
        </p:nvSpPr>
        <p:spPr>
          <a:xfrm>
            <a:off x="581025" y="581025"/>
            <a:ext cx="762000" cy="573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771525" y="876300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¿QUÉ PODEMOS HACER?</a:t>
            </a:r>
            <a:endParaRPr sz="315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581025" y="876300"/>
            <a:ext cx="47700" cy="50490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363050" y="2706575"/>
            <a:ext cx="3984600" cy="19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Conversar → Chatbots</a:t>
            </a:r>
            <a:endParaRPr sz="23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Buscar → RAG</a:t>
            </a:r>
            <a:endParaRPr sz="23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Actuar → Agentes</a:t>
            </a:r>
            <a:endParaRPr sz="23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Estructurar → Extracción</a:t>
            </a:r>
            <a:endParaRPr sz="23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Font typeface="Inter"/>
              <a:buChar char="●"/>
            </a:pPr>
            <a:r>
              <a:rPr lang="en-US" sz="23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Analizar → Clasificación</a:t>
            </a:r>
            <a:endParaRPr sz="2000" b="1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9" name="Google Shape;279;p24"/>
          <p:cNvPicPr preferRelativeResize="0"/>
          <p:nvPr/>
        </p:nvPicPr>
        <p:blipFill rotWithShape="1">
          <a:blip r:embed="rId4">
            <a:alphaModFix/>
          </a:blip>
          <a:srcRect l="5571" t="6795"/>
          <a:stretch/>
        </p:blipFill>
        <p:spPr>
          <a:xfrm>
            <a:off x="4572000" y="1639875"/>
            <a:ext cx="7465024" cy="41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Panorámica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Space Grotesk</vt:lpstr>
      <vt:lpstr>Arial</vt:lpstr>
      <vt:lpstr>Inter</vt:lpstr>
      <vt:lpstr>Calibri</vt:lpstr>
      <vt:lpstr>Inter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Andrés Pineda</cp:lastModifiedBy>
  <cp:revision>1</cp:revision>
  <dcterms:modified xsi:type="dcterms:W3CDTF">2026-05-26T04:47:49Z</dcterms:modified>
</cp:coreProperties>
</file>